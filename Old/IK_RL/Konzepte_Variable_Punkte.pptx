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63" r:id="rId5"/>
    <p:sldId id="258" r:id="rId6"/>
    <p:sldId id="260" r:id="rId7"/>
    <p:sldId id="262" r:id="rId8"/>
    <p:sldId id="266" r:id="rId9"/>
    <p:sldId id="264" r:id="rId10"/>
    <p:sldId id="267" r:id="rId11"/>
    <p:sldId id="268" r:id="rId12"/>
    <p:sldId id="261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589CB-F5E5-43AA-9AF2-C8318DC17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94498B-5A2F-471F-A8E7-0A0FE1E61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8C2E97-778B-423E-B138-454675513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B409-1CED-4042-B9CD-8774B06EF7BD}" type="datetimeFigureOut">
              <a:rPr lang="de-DE" smtClean="0"/>
              <a:t>25.01.2021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F46F93-FA6C-4F12-9E7C-8132FEBFB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2FA2F3-CE08-448D-8087-BAB566E2D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1E763-B21F-403E-9747-9963C3E2AD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7765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27DA8-4E4D-4D88-AE77-1FC16B5EC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562912-0530-4D1F-866E-01DE218CD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DEC663-981D-423C-9D87-C1C66B6E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B409-1CED-4042-B9CD-8774B06EF7BD}" type="datetimeFigureOut">
              <a:rPr lang="de-DE" smtClean="0"/>
              <a:t>25.01.2021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3A25DF-222F-484E-9326-A2B805D90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B17A59-00C5-4077-9134-7E9D1DF4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1E763-B21F-403E-9747-9963C3E2AD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2614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87FCEA-37F1-4AC8-A492-73892A555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864130-41FD-430C-903A-0E70D2A46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18C781-D8F1-4A63-B4AC-6FF242C0F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B409-1CED-4042-B9CD-8774B06EF7BD}" type="datetimeFigureOut">
              <a:rPr lang="de-DE" smtClean="0"/>
              <a:t>25.01.2021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EE5BE4-6A67-43E0-9E85-EAB774DCE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2EE172-A9D4-4C43-8A18-D48E87281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1E763-B21F-403E-9747-9963C3E2AD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243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5EBF30-0F1D-471E-A15A-378CF9445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ABE9B6-E387-42B6-9070-EAFD88A60C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5CBF49-8E7F-4D87-B21C-E5ADB36E8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81D21D-5558-4D93-8D61-239113A02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B409-1CED-4042-B9CD-8774B06EF7BD}" type="datetimeFigureOut">
              <a:rPr lang="de-DE" smtClean="0"/>
              <a:t>25.01.2021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CB9338-8F6C-4E91-A9EE-8AB955797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61168C-6C19-4BB3-ADE2-CA0126B8E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1E763-B21F-403E-9747-9963C3E2AD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4961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7A973F-B564-41FD-B12E-1A2BEE02D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162D65-DC7E-41BD-99A8-2962754A2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50CB3A2-6436-466B-8A5D-BCEF8BE66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458DC72-52E7-4BA4-9F05-1678D7985C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1CBB37E-84AB-4BF6-A995-17044FE316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D2664C8-2C31-4BA2-8550-8BB42B01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B409-1CED-4042-B9CD-8774B06EF7BD}" type="datetimeFigureOut">
              <a:rPr lang="de-DE" smtClean="0"/>
              <a:t>25.01.2021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1475BD2-A620-4E6B-A2FC-057FCA448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023F425-3493-4553-B2BE-D194BED1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1E763-B21F-403E-9747-9963C3E2AD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0682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AD1F26-A618-4635-B38B-39833C64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AE90C33-5F41-4990-8A68-9C134F20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B409-1CED-4042-B9CD-8774B06EF7BD}" type="datetimeFigureOut">
              <a:rPr lang="de-DE" smtClean="0"/>
              <a:t>25.01.2021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40ACF1D-1210-4795-901B-57A9EFF2F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8C4C348-BE62-46F1-9E99-DAB0439E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1E763-B21F-403E-9747-9963C3E2AD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070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31D01B9-1F6D-4904-836F-F014BBF81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B409-1CED-4042-B9CD-8774B06EF7BD}" type="datetimeFigureOut">
              <a:rPr lang="de-DE" smtClean="0"/>
              <a:t>25.01.2021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AFD4101-CD64-41A4-85BB-33CB6D838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04E272-67C2-4D6B-8090-A6A6B6F47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1E763-B21F-403E-9747-9963C3E2AD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1322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77A8B9-991D-47C9-9C5F-BE2EC2576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CA4DCA-3666-49AA-99BB-DB889E0B5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2A25FE5-E044-42F8-8E90-8FA1B4237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7E9DB09-F451-462A-8879-154E043BA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B409-1CED-4042-B9CD-8774B06EF7BD}" type="datetimeFigureOut">
              <a:rPr lang="de-DE" smtClean="0"/>
              <a:t>25.01.2021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04AB369-1192-49EF-8516-EFE7DF385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65BC17-1FF5-40E4-A316-AF7D7C6D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1E763-B21F-403E-9747-9963C3E2AD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0924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C3E337-F0E9-48AE-B28F-40CB1C17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8BAC0AD-7333-4026-9949-E524E1E0EF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327BD50-AB65-47A1-B5F5-03246F24A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536C9F-A775-4A63-AFE5-326E95326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B409-1CED-4042-B9CD-8774B06EF7BD}" type="datetimeFigureOut">
              <a:rPr lang="de-DE" smtClean="0"/>
              <a:t>25.01.2021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8AF387B-3406-41B7-93F2-15E02C23E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BB5F12-E210-409D-ABD6-346993E92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1E763-B21F-403E-9747-9963C3E2AD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435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F16897-D7AD-4AFF-A286-75C040241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06FE69D-5008-46E7-8D3D-C74981B10D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9D37ED-6F11-40F1-BA57-4158D2468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B409-1CED-4042-B9CD-8774B06EF7BD}" type="datetimeFigureOut">
              <a:rPr lang="de-DE" smtClean="0"/>
              <a:t>25.01.2021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6923F1-29AD-456B-9EF9-D358BE34E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B8DF75-53C0-4E3E-8362-3D7C2AA7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1E763-B21F-403E-9747-9963C3E2AD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2411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E015CC2-E8B1-4D13-8F32-5F11AFCF5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251619C-8455-4DD7-9F69-6B32EDBFC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7BA72F-864A-4B79-AF11-82540815F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3B409-1CED-4042-B9CD-8774B06EF7BD}" type="datetimeFigureOut">
              <a:rPr lang="de-DE" smtClean="0"/>
              <a:t>25.01.2021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D34B6E-690E-4368-AE08-A532B90E4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8678F9-1D39-44CB-9480-45335AE0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1E763-B21F-403E-9747-9963C3E2AD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7072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610B56-723B-4856-8A8C-045BBEA95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023BFD-BBB5-4E60-A2E7-BA02EE3B2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737B2A-09B2-44A1-8758-B04C13F43A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3B409-1CED-4042-B9CD-8774B06EF7BD}" type="datetimeFigureOut">
              <a:rPr lang="de-DE" smtClean="0"/>
              <a:t>25.01.2021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67B4B4-D5FD-4017-947F-740821FA0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BC91B7-1845-4D0A-89E0-DAB2BCF65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1E763-B21F-403E-9747-9963C3E2AD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726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4C7F58-0D1A-477C-A736-2D4C88F3C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000"/>
          </a:xfrm>
        </p:spPr>
        <p:txBody>
          <a:bodyPr>
            <a:normAutofit/>
          </a:bodyPr>
          <a:lstStyle/>
          <a:p>
            <a:r>
              <a:rPr lang="de-DE" sz="1600" b="1" dirty="0" err="1"/>
              <a:t>Current</a:t>
            </a:r>
            <a:r>
              <a:rPr lang="de-DE" sz="1600" b="1" dirty="0"/>
              <a:t> </a:t>
            </a:r>
            <a:r>
              <a:rPr lang="de-DE" sz="1600" b="1" dirty="0" err="1"/>
              <a:t>Jacobian</a:t>
            </a:r>
            <a:r>
              <a:rPr lang="de-DE" sz="1600" b="1" dirty="0"/>
              <a:t> Solution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C4FA5A3-E076-4289-BEA0-D34292F1F53E}"/>
              </a:ext>
            </a:extLst>
          </p:cNvPr>
          <p:cNvSpPr txBox="1"/>
          <p:nvPr/>
        </p:nvSpPr>
        <p:spPr>
          <a:xfrm>
            <a:off x="1887523" y="1845578"/>
            <a:ext cx="3850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If</a:t>
            </a:r>
            <a:r>
              <a:rPr lang="de-DE" dirty="0"/>
              <a:t> current_pos_to_IKpos1 and switch:</a:t>
            </a:r>
          </a:p>
          <a:p>
            <a:r>
              <a:rPr lang="de-DE" dirty="0"/>
              <a:t>	…</a:t>
            </a:r>
          </a:p>
          <a:p>
            <a:r>
              <a:rPr lang="de-DE" dirty="0"/>
              <a:t>	…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47A0623-E67A-42F7-A274-D10D312165AB}"/>
              </a:ext>
            </a:extLst>
          </p:cNvPr>
          <p:cNvSpPr txBox="1"/>
          <p:nvPr/>
        </p:nvSpPr>
        <p:spPr>
          <a:xfrm>
            <a:off x="1342239" y="1275019"/>
            <a:ext cx="2575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Step</a:t>
            </a:r>
            <a:r>
              <a:rPr lang="de-DE" dirty="0"/>
              <a:t>()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13B34B9-7C53-4A08-924E-5538D15D2E02}"/>
              </a:ext>
            </a:extLst>
          </p:cNvPr>
          <p:cNvSpPr txBox="1"/>
          <p:nvPr/>
        </p:nvSpPr>
        <p:spPr>
          <a:xfrm>
            <a:off x="1887522" y="2970135"/>
            <a:ext cx="4286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If</a:t>
            </a:r>
            <a:r>
              <a:rPr lang="de-DE" dirty="0"/>
              <a:t> current_pos_to_IKpos2 and switch2:</a:t>
            </a:r>
          </a:p>
          <a:p>
            <a:r>
              <a:rPr lang="de-DE" dirty="0"/>
              <a:t>	…</a:t>
            </a:r>
          </a:p>
          <a:p>
            <a:r>
              <a:rPr lang="de-DE" dirty="0"/>
              <a:t>	…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460C6E2-B21E-48FC-BB72-8FB0EE454E9E}"/>
              </a:ext>
            </a:extLst>
          </p:cNvPr>
          <p:cNvSpPr txBox="1"/>
          <p:nvPr/>
        </p:nvSpPr>
        <p:spPr>
          <a:xfrm>
            <a:off x="1887522" y="3994990"/>
            <a:ext cx="4286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If</a:t>
            </a:r>
            <a:r>
              <a:rPr lang="de-DE" dirty="0"/>
              <a:t> not schalter2 and pause &gt; </a:t>
            </a:r>
            <a:r>
              <a:rPr lang="de-DE" dirty="0" err="1"/>
              <a:t>pause_value</a:t>
            </a:r>
            <a:r>
              <a:rPr lang="de-DE" dirty="0"/>
              <a:t>:</a:t>
            </a:r>
          </a:p>
          <a:p>
            <a:r>
              <a:rPr lang="de-DE" dirty="0"/>
              <a:t>	…</a:t>
            </a:r>
          </a:p>
          <a:p>
            <a:r>
              <a:rPr lang="de-DE" dirty="0"/>
              <a:t>	…</a:t>
            </a:r>
          </a:p>
        </p:txBody>
      </p:sp>
    </p:spTree>
    <p:extLst>
      <p:ext uri="{BB962C8B-B14F-4D97-AF65-F5344CB8AC3E}">
        <p14:creationId xmlns:p14="http://schemas.microsoft.com/office/powerpoint/2010/main" val="2071815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353A9617-B840-4D10-9772-9642BD2250C8}"/>
              </a:ext>
            </a:extLst>
          </p:cNvPr>
          <p:cNvSpPr txBox="1"/>
          <p:nvPr/>
        </p:nvSpPr>
        <p:spPr>
          <a:xfrm>
            <a:off x="1216404" y="1082072"/>
            <a:ext cx="3053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moveToPoints</a:t>
            </a:r>
            <a:r>
              <a:rPr lang="de-DE" dirty="0"/>
              <a:t>(*Points)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69FFD744-283B-4ECB-9C6B-60F37092D177}"/>
              </a:ext>
            </a:extLst>
          </p:cNvPr>
          <p:cNvCxnSpPr/>
          <p:nvPr/>
        </p:nvCxnSpPr>
        <p:spPr>
          <a:xfrm>
            <a:off x="4454554" y="1266738"/>
            <a:ext cx="10234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CE9939A6-6638-4ADC-8CD9-43537E5496EE}"/>
              </a:ext>
            </a:extLst>
          </p:cNvPr>
          <p:cNvSpPr txBox="1"/>
          <p:nvPr/>
        </p:nvSpPr>
        <p:spPr>
          <a:xfrm>
            <a:off x="5662569" y="1082072"/>
            <a:ext cx="3053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Step</a:t>
            </a:r>
            <a:r>
              <a:rPr lang="de-DE" dirty="0"/>
              <a:t>(*</a:t>
            </a:r>
            <a:r>
              <a:rPr lang="de-DE" dirty="0" err="1"/>
              <a:t>points</a:t>
            </a:r>
            <a:r>
              <a:rPr lang="de-DE" dirty="0"/>
              <a:t>)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6B5BEBD-FCEB-4719-8074-0006F304348C}"/>
              </a:ext>
            </a:extLst>
          </p:cNvPr>
          <p:cNvSpPr txBox="1"/>
          <p:nvPr/>
        </p:nvSpPr>
        <p:spPr>
          <a:xfrm>
            <a:off x="1510019" y="2903397"/>
            <a:ext cx="3850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If</a:t>
            </a:r>
            <a:r>
              <a:rPr lang="de-DE" sz="1200" dirty="0"/>
              <a:t> current_pos_to_IKpos1 and switch:</a:t>
            </a:r>
          </a:p>
          <a:p>
            <a:r>
              <a:rPr lang="de-DE" sz="1200" dirty="0"/>
              <a:t>	…</a:t>
            </a:r>
          </a:p>
          <a:p>
            <a:r>
              <a:rPr lang="de-DE" sz="1200" dirty="0"/>
              <a:t>	…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25D7B5A-D962-4FDD-8811-C547D2322019}"/>
              </a:ext>
            </a:extLst>
          </p:cNvPr>
          <p:cNvSpPr txBox="1"/>
          <p:nvPr/>
        </p:nvSpPr>
        <p:spPr>
          <a:xfrm>
            <a:off x="1216404" y="2526801"/>
            <a:ext cx="2575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Step</a:t>
            </a:r>
            <a:r>
              <a:rPr lang="de-DE" sz="1200" dirty="0"/>
              <a:t>()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8591E8E-0813-4E83-A233-AA5AE7EA3BFD}"/>
              </a:ext>
            </a:extLst>
          </p:cNvPr>
          <p:cNvSpPr txBox="1"/>
          <p:nvPr/>
        </p:nvSpPr>
        <p:spPr>
          <a:xfrm>
            <a:off x="1510018" y="3439836"/>
            <a:ext cx="4286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If</a:t>
            </a:r>
            <a:r>
              <a:rPr lang="de-DE" sz="1200" dirty="0"/>
              <a:t> current_pos_to_IKpos2 and switch2:</a:t>
            </a:r>
          </a:p>
          <a:p>
            <a:r>
              <a:rPr lang="de-DE" sz="1200" dirty="0"/>
              <a:t>	…</a:t>
            </a:r>
          </a:p>
          <a:p>
            <a:r>
              <a:rPr lang="de-DE" sz="1200" dirty="0"/>
              <a:t>	…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67F71E2-2FA5-4FDE-936A-25502C799735}"/>
              </a:ext>
            </a:extLst>
          </p:cNvPr>
          <p:cNvSpPr txBox="1"/>
          <p:nvPr/>
        </p:nvSpPr>
        <p:spPr>
          <a:xfrm>
            <a:off x="1510019" y="3982673"/>
            <a:ext cx="4286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If</a:t>
            </a:r>
            <a:r>
              <a:rPr lang="de-DE" sz="1200" dirty="0"/>
              <a:t> not schalter2 and pause &gt; </a:t>
            </a:r>
            <a:r>
              <a:rPr lang="de-DE" sz="1200" dirty="0" err="1"/>
              <a:t>pause_value</a:t>
            </a:r>
            <a:r>
              <a:rPr lang="de-DE" sz="1200" dirty="0"/>
              <a:t>:</a:t>
            </a:r>
          </a:p>
          <a:p>
            <a:r>
              <a:rPr lang="de-DE" sz="1200" dirty="0"/>
              <a:t>	…</a:t>
            </a:r>
          </a:p>
          <a:p>
            <a:r>
              <a:rPr lang="de-DE" sz="1200" dirty="0"/>
              <a:t>	…</a:t>
            </a:r>
          </a:p>
        </p:txBody>
      </p:sp>
      <p:sp>
        <p:nvSpPr>
          <p:cNvPr id="20" name="Geschweifte Klammer rechts 19">
            <a:extLst>
              <a:ext uri="{FF2B5EF4-FFF2-40B4-BE49-F238E27FC236}">
                <a16:creationId xmlns:a16="http://schemas.microsoft.com/office/drawing/2014/main" id="{5028555D-C1CF-443A-B45C-C134E9B9B0EE}"/>
              </a:ext>
            </a:extLst>
          </p:cNvPr>
          <p:cNvSpPr/>
          <p:nvPr/>
        </p:nvSpPr>
        <p:spPr>
          <a:xfrm>
            <a:off x="4269996" y="2903397"/>
            <a:ext cx="444617" cy="136659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DAD483ED-EFB7-43B2-B16E-3D01D7864954}"/>
              </a:ext>
            </a:extLst>
          </p:cNvPr>
          <p:cNvCxnSpPr>
            <a:cxnSpLocks/>
          </p:cNvCxnSpPr>
          <p:nvPr/>
        </p:nvCxnSpPr>
        <p:spPr>
          <a:xfrm flipV="1">
            <a:off x="4739779" y="2726422"/>
            <a:ext cx="922790" cy="860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38C033D1-190B-4A78-9995-AA2262C855D8}"/>
              </a:ext>
            </a:extLst>
          </p:cNvPr>
          <p:cNvSpPr txBox="1"/>
          <p:nvPr/>
        </p:nvSpPr>
        <p:spPr>
          <a:xfrm>
            <a:off x="5662568" y="2416029"/>
            <a:ext cx="5763237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Method </a:t>
            </a:r>
            <a:r>
              <a:rPr lang="de-DE" dirty="0" err="1"/>
              <a:t>for</a:t>
            </a:r>
            <a:r>
              <a:rPr lang="de-DE" dirty="0"/>
              <a:t> flexible </a:t>
            </a:r>
            <a:r>
              <a:rPr lang="de-DE" dirty="0" err="1"/>
              <a:t>creation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code</a:t>
            </a:r>
          </a:p>
          <a:p>
            <a:endParaRPr lang="de-DE" dirty="0"/>
          </a:p>
          <a:p>
            <a:r>
              <a:rPr lang="de-DE" dirty="0" err="1"/>
              <a:t>Generic</a:t>
            </a:r>
            <a:r>
              <a:rPr lang="de-DE" dirty="0"/>
              <a:t> Attributes:</a:t>
            </a:r>
          </a:p>
          <a:p>
            <a:r>
              <a:rPr lang="de-DE" dirty="0"/>
              <a:t>	- </a:t>
            </a:r>
            <a:r>
              <a:rPr lang="de-DE" dirty="0" err="1"/>
              <a:t>self</a:t>
            </a:r>
            <a:r>
              <a:rPr lang="de-DE" dirty="0"/>
              <a:t>._</a:t>
            </a:r>
            <a:r>
              <a:rPr lang="de-DE" dirty="0" err="1"/>
              <a:t>points</a:t>
            </a:r>
            <a:endParaRPr lang="de-DE" dirty="0"/>
          </a:p>
          <a:p>
            <a:r>
              <a:rPr lang="de-DE" dirty="0"/>
              <a:t>	- </a:t>
            </a:r>
            <a:r>
              <a:rPr lang="de-DE" dirty="0" err="1"/>
              <a:t>self</a:t>
            </a:r>
            <a:r>
              <a:rPr lang="de-DE" dirty="0"/>
              <a:t>._</a:t>
            </a:r>
            <a:r>
              <a:rPr lang="de-DE" dirty="0" err="1"/>
              <a:t>switches</a:t>
            </a:r>
            <a:endParaRPr lang="de-DE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F33CE24-3EE1-4BFA-8254-5100022D943B}"/>
              </a:ext>
            </a:extLst>
          </p:cNvPr>
          <p:cNvSpPr txBox="1"/>
          <p:nvPr/>
        </p:nvSpPr>
        <p:spPr>
          <a:xfrm>
            <a:off x="5662568" y="4738783"/>
            <a:ext cx="384215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err="1"/>
              <a:t>obtain_measurements</a:t>
            </a:r>
            <a:r>
              <a:rPr lang="de-DE" dirty="0"/>
              <a:t>()</a:t>
            </a:r>
          </a:p>
          <a:p>
            <a:endParaRPr lang="de-DE" dirty="0"/>
          </a:p>
        </p:txBody>
      </p:sp>
      <p:cxnSp>
        <p:nvCxnSpPr>
          <p:cNvPr id="4" name="Verbinder: gewinkelt 3">
            <a:extLst>
              <a:ext uri="{FF2B5EF4-FFF2-40B4-BE49-F238E27FC236}">
                <a16:creationId xmlns:a16="http://schemas.microsoft.com/office/drawing/2014/main" id="{1D59B82E-FEF0-4301-A8FB-5C14B6780F8E}"/>
              </a:ext>
            </a:extLst>
          </p:cNvPr>
          <p:cNvCxnSpPr>
            <a:endCxn id="2" idx="2"/>
          </p:cNvCxnSpPr>
          <p:nvPr/>
        </p:nvCxnSpPr>
        <p:spPr>
          <a:xfrm>
            <a:off x="2088859" y="3154693"/>
            <a:ext cx="5494789" cy="2230421"/>
          </a:xfrm>
          <a:prstGeom prst="bentConnector4">
            <a:avLst>
              <a:gd name="adj1" fmla="val -23664"/>
              <a:gd name="adj2" fmla="val 1162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Verbinder: gewinkelt 6">
            <a:extLst>
              <a:ext uri="{FF2B5EF4-FFF2-40B4-BE49-F238E27FC236}">
                <a16:creationId xmlns:a16="http://schemas.microsoft.com/office/drawing/2014/main" id="{E818CCA5-AF5D-4FDB-85D5-B561910A55A2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2687273" y="3726703"/>
            <a:ext cx="4896375" cy="1658411"/>
          </a:xfrm>
          <a:prstGeom prst="bentConnector4">
            <a:avLst>
              <a:gd name="adj1" fmla="val -28726"/>
              <a:gd name="adj2" fmla="val 1092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440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8F2C57-94DB-42C1-8DA9-617F9500C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6780"/>
          </a:xfrm>
        </p:spPr>
        <p:txBody>
          <a:bodyPr>
            <a:normAutofit/>
          </a:bodyPr>
          <a:lstStyle/>
          <a:p>
            <a:r>
              <a:rPr lang="de-DE" sz="2000" dirty="0"/>
              <a:t>Switch </a:t>
            </a:r>
            <a:r>
              <a:rPr lang="de-DE" sz="2000" dirty="0" err="1"/>
              <a:t>Mechanism</a:t>
            </a:r>
            <a:endParaRPr lang="de-DE" sz="20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51CD9C5-CF6A-485A-B075-2788747A1E65}"/>
              </a:ext>
            </a:extLst>
          </p:cNvPr>
          <p:cNvSpPr txBox="1"/>
          <p:nvPr/>
        </p:nvSpPr>
        <p:spPr>
          <a:xfrm>
            <a:off x="1284214" y="2533507"/>
            <a:ext cx="38505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If</a:t>
            </a:r>
            <a:r>
              <a:rPr lang="de-DE" sz="1200" dirty="0"/>
              <a:t> IKpos1_to_IKpos2 and switch2:</a:t>
            </a:r>
          </a:p>
          <a:p>
            <a:r>
              <a:rPr lang="de-DE" sz="1200" dirty="0"/>
              <a:t>	…</a:t>
            </a:r>
          </a:p>
          <a:p>
            <a:r>
              <a:rPr lang="de-DE" sz="1200" dirty="0"/>
              <a:t>	…</a:t>
            </a:r>
          </a:p>
          <a:p>
            <a:r>
              <a:rPr lang="de-DE" sz="1200" dirty="0"/>
              <a:t>	switch1 = </a:t>
            </a:r>
            <a:r>
              <a:rPr lang="de-DE" sz="1200" dirty="0" err="1"/>
              <a:t>Activated</a:t>
            </a:r>
            <a:endParaRPr lang="de-DE" sz="12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511398B-E2DB-4C8F-A96B-7FD6737C5D06}"/>
              </a:ext>
            </a:extLst>
          </p:cNvPr>
          <p:cNvSpPr txBox="1"/>
          <p:nvPr/>
        </p:nvSpPr>
        <p:spPr>
          <a:xfrm>
            <a:off x="838200" y="1291906"/>
            <a:ext cx="2575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Step</a:t>
            </a:r>
            <a:r>
              <a:rPr lang="de-DE" sz="1200" dirty="0"/>
              <a:t>()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AF56D30-F02B-40F4-A7FA-95AAF99C8B83}"/>
              </a:ext>
            </a:extLst>
          </p:cNvPr>
          <p:cNvSpPr txBox="1"/>
          <p:nvPr/>
        </p:nvSpPr>
        <p:spPr>
          <a:xfrm>
            <a:off x="1284215" y="1820902"/>
            <a:ext cx="3850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If</a:t>
            </a:r>
            <a:r>
              <a:rPr lang="de-DE" sz="1200" dirty="0"/>
              <a:t> EE_to_IKpos1 and switch1:</a:t>
            </a:r>
          </a:p>
          <a:p>
            <a:r>
              <a:rPr lang="de-DE" sz="1200" dirty="0"/>
              <a:t>	…</a:t>
            </a:r>
          </a:p>
          <a:p>
            <a:r>
              <a:rPr lang="de-DE" sz="1200" dirty="0"/>
              <a:t>	…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B8DE502-5914-403D-A7AB-20FFA92F133A}"/>
              </a:ext>
            </a:extLst>
          </p:cNvPr>
          <p:cNvSpPr txBox="1"/>
          <p:nvPr/>
        </p:nvSpPr>
        <p:spPr>
          <a:xfrm>
            <a:off x="1284213" y="3469262"/>
            <a:ext cx="38505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If</a:t>
            </a:r>
            <a:r>
              <a:rPr lang="de-DE" sz="1200" dirty="0"/>
              <a:t> IKpos2_to_IKpos3 and switch3:</a:t>
            </a:r>
          </a:p>
          <a:p>
            <a:r>
              <a:rPr lang="de-DE" sz="1200" dirty="0"/>
              <a:t>	…</a:t>
            </a:r>
          </a:p>
          <a:p>
            <a:r>
              <a:rPr lang="de-DE" sz="1200" dirty="0"/>
              <a:t>	…</a:t>
            </a:r>
          </a:p>
          <a:p>
            <a:r>
              <a:rPr lang="de-DE" sz="1200" dirty="0"/>
              <a:t>	switch2 = </a:t>
            </a:r>
            <a:r>
              <a:rPr lang="de-DE" sz="1200" dirty="0" err="1"/>
              <a:t>Activated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4161867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A562EB-0F0F-46DA-9555-4FEB9A533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Reward</a:t>
            </a:r>
            <a:r>
              <a:rPr lang="de-DE" dirty="0"/>
              <a:t> </a:t>
            </a:r>
            <a:r>
              <a:rPr lang="de-DE" dirty="0" err="1"/>
              <a:t>Computation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Orientation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B2A7A1-7069-4142-91DC-F43F20B21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Not </a:t>
            </a:r>
            <a:r>
              <a:rPr lang="de-DE" dirty="0" err="1"/>
              <a:t>satifying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original </a:t>
            </a:r>
            <a:r>
              <a:rPr lang="de-DE" dirty="0" err="1"/>
              <a:t>implementation</a:t>
            </a:r>
            <a:r>
              <a:rPr lang="de-DE" dirty="0"/>
              <a:t>:</a:t>
            </a:r>
          </a:p>
          <a:p>
            <a:pPr lvl="1">
              <a:buFontTx/>
              <a:buChar char="-"/>
            </a:pPr>
            <a:r>
              <a:rPr lang="de-DE" dirty="0" err="1"/>
              <a:t>Behaves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unstable</a:t>
            </a:r>
            <a:r>
              <a:rPr lang="de-DE" dirty="0"/>
              <a:t>,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near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goal</a:t>
            </a:r>
            <a:r>
              <a:rPr lang="de-DE" dirty="0"/>
              <a:t>: The </a:t>
            </a:r>
            <a:r>
              <a:rPr lang="de-DE" dirty="0" err="1"/>
              <a:t>smaller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distance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goals</a:t>
            </a:r>
            <a:r>
              <a:rPr lang="de-DE" dirty="0"/>
              <a:t> COM,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volatile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reward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!</a:t>
            </a:r>
          </a:p>
          <a:p>
            <a:pPr lvl="1">
              <a:buFontTx/>
              <a:buChar char="-"/>
            </a:pPr>
            <a:r>
              <a:rPr lang="de-DE" dirty="0"/>
              <a:t>Try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align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z-</a:t>
            </a:r>
            <a:r>
              <a:rPr lang="de-DE" dirty="0" err="1"/>
              <a:t>axis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goal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z-</a:t>
            </a:r>
            <a:r>
              <a:rPr lang="de-DE" dirty="0" err="1"/>
              <a:t>axis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gripper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7688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14F63456-085E-4CD4-81CF-F2606E71A072}"/>
              </a:ext>
            </a:extLst>
          </p:cNvPr>
          <p:cNvSpPr txBox="1"/>
          <p:nvPr/>
        </p:nvSpPr>
        <p:spPr>
          <a:xfrm>
            <a:off x="587228" y="1468073"/>
            <a:ext cx="89594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1)    IK-</a:t>
            </a:r>
            <a:r>
              <a:rPr lang="de-DE" dirty="0" err="1"/>
              <a:t>planed</a:t>
            </a:r>
            <a:r>
              <a:rPr lang="de-DE" dirty="0"/>
              <a:t> </a:t>
            </a:r>
            <a:r>
              <a:rPr lang="de-DE" dirty="0" err="1"/>
              <a:t>movement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variable IK-points but </a:t>
            </a:r>
            <a:r>
              <a:rPr lang="de-DE" dirty="0" err="1"/>
              <a:t>predetermined</a:t>
            </a:r>
            <a:r>
              <a:rPr lang="de-DE" dirty="0"/>
              <a:t> </a:t>
            </a:r>
            <a:r>
              <a:rPr lang="de-DE" dirty="0" err="1"/>
              <a:t>trajectory</a:t>
            </a:r>
            <a:endParaRPr lang="de-DE" dirty="0"/>
          </a:p>
          <a:p>
            <a:endParaRPr lang="en-US" dirty="0"/>
          </a:p>
          <a:p>
            <a:r>
              <a:rPr lang="en-US" dirty="0"/>
              <a:t>    	# Phase 1: Move from current pos to IK_1</a:t>
            </a:r>
          </a:p>
          <a:p>
            <a:r>
              <a:rPr lang="en-US" dirty="0"/>
              <a:t>    	# Phase N: Move from IK_n-1 to </a:t>
            </a:r>
            <a:r>
              <a:rPr lang="en-US" dirty="0" err="1"/>
              <a:t>IK_n</a:t>
            </a:r>
            <a:endParaRPr lang="en-US" dirty="0"/>
          </a:p>
          <a:p>
            <a:r>
              <a:rPr lang="en-US" dirty="0"/>
              <a:t>    	# If near enough in the center of mass: Grab, execute grab for &gt; 10      </a:t>
            </a:r>
            <a:br>
              <a:rPr lang="en-US" dirty="0"/>
            </a:br>
            <a:r>
              <a:rPr lang="en-US" dirty="0"/>
              <a:t>       	   steps, so that object is hold tight </a:t>
            </a:r>
            <a:r>
              <a:rPr lang="en-US" dirty="0" err="1"/>
              <a:t>betweeen</a:t>
            </a:r>
            <a:r>
              <a:rPr lang="en-US" dirty="0"/>
              <a:t> the fingers</a:t>
            </a:r>
          </a:p>
          <a:p>
            <a:r>
              <a:rPr lang="en-US" dirty="0"/>
              <a:t>    	# Continue to execute planed path to target pos.</a:t>
            </a:r>
          </a:p>
          <a:p>
            <a:r>
              <a:rPr lang="en-US" dirty="0"/>
              <a:t>	</a:t>
            </a:r>
            <a:r>
              <a:rPr lang="en-US" dirty="0">
                <a:sym typeface="Wingdings" panose="05000000000000000000" pitchFamily="2" charset="2"/>
              </a:rPr>
              <a:t>Reward after each targeted point (completion of partial trajectory)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5FB28EB-AD0B-4B7D-AC89-583E9E28D8DA}"/>
              </a:ext>
            </a:extLst>
          </p:cNvPr>
          <p:cNvSpPr txBox="1"/>
          <p:nvPr/>
        </p:nvSpPr>
        <p:spPr>
          <a:xfrm>
            <a:off x="805343" y="226503"/>
            <a:ext cx="7533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 err="1"/>
              <a:t>Concepts</a:t>
            </a:r>
            <a:endParaRPr lang="de-DE" sz="44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EEFC9C7-D970-4811-A114-ACFF595D4906}"/>
              </a:ext>
            </a:extLst>
          </p:cNvPr>
          <p:cNvSpPr txBox="1"/>
          <p:nvPr/>
        </p:nvSpPr>
        <p:spPr>
          <a:xfrm>
            <a:off x="587227" y="3878300"/>
            <a:ext cx="89594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 startAt="2"/>
            </a:pPr>
            <a:r>
              <a:rPr lang="de-DE" dirty="0"/>
              <a:t>IK-</a:t>
            </a:r>
            <a:r>
              <a:rPr lang="de-DE" dirty="0" err="1"/>
              <a:t>planed</a:t>
            </a:r>
            <a:r>
              <a:rPr lang="de-DE" dirty="0"/>
              <a:t> </a:t>
            </a:r>
            <a:r>
              <a:rPr lang="de-DE" dirty="0" err="1"/>
              <a:t>movement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variable IK-points but IK </a:t>
            </a:r>
            <a:r>
              <a:rPr lang="de-DE" dirty="0" err="1"/>
              <a:t>points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generated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long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</a:p>
          <a:p>
            <a:r>
              <a:rPr lang="de-DE" dirty="0"/>
              <a:t>      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reached</a:t>
            </a:r>
            <a:r>
              <a:rPr lang="de-DE" dirty="0"/>
              <a:t>. </a:t>
            </a:r>
          </a:p>
          <a:p>
            <a:endParaRPr lang="de-DE" dirty="0"/>
          </a:p>
          <a:p>
            <a:r>
              <a:rPr lang="de-DE" dirty="0"/>
              <a:t>	</a:t>
            </a:r>
            <a:r>
              <a:rPr lang="en-US" dirty="0"/>
              <a:t># Phase 1: Move from current pos to IK_P</a:t>
            </a:r>
          </a:p>
          <a:p>
            <a:pPr lvl="1"/>
            <a:r>
              <a:rPr lang="en-US" dirty="0"/>
              <a:t>       		repeat</a:t>
            </a:r>
          </a:p>
          <a:p>
            <a:pPr lvl="1"/>
            <a:r>
              <a:rPr lang="en-US" dirty="0"/>
              <a:t>	# Terminate episode, if number of max allowable IK points (agent actions) are      </a:t>
            </a:r>
            <a:br>
              <a:rPr lang="en-US" dirty="0"/>
            </a:br>
            <a:r>
              <a:rPr lang="en-US" dirty="0"/>
              <a:t> 	   exceeded</a:t>
            </a:r>
          </a:p>
          <a:p>
            <a:pPr lvl="1"/>
            <a:r>
              <a:rPr lang="en-US" dirty="0"/>
              <a:t>	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Reward after reaching targeted point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    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4640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3EFB65-8E9E-4D33-A0C4-7CDC1B409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721"/>
          </a:xfrm>
        </p:spPr>
        <p:txBody>
          <a:bodyPr>
            <a:noAutofit/>
          </a:bodyPr>
          <a:lstStyle/>
          <a:p>
            <a:r>
              <a:rPr lang="de-DE" sz="4000" dirty="0"/>
              <a:t>Minimum Viable </a:t>
            </a:r>
            <a:r>
              <a:rPr lang="de-DE" sz="4000" dirty="0" err="1"/>
              <a:t>Procut</a:t>
            </a:r>
            <a:r>
              <a:rPr lang="de-DE" sz="4000" dirty="0"/>
              <a:t> (13.08.2021) – Concept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C1DD09-0114-4B88-93C8-19ED41930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7758"/>
            <a:ext cx="10515600" cy="5145117"/>
          </a:xfrm>
        </p:spPr>
        <p:txBody>
          <a:bodyPr>
            <a:normAutofit fontScale="77500" lnSpcReduction="20000"/>
          </a:bodyPr>
          <a:lstStyle/>
          <a:p>
            <a:pPr>
              <a:buFontTx/>
              <a:buChar char="-"/>
            </a:pPr>
            <a:r>
              <a:rPr lang="de-DE" sz="2400" dirty="0" err="1"/>
              <a:t>Hardacode</a:t>
            </a:r>
            <a:r>
              <a:rPr lang="de-DE" sz="2400" dirty="0"/>
              <a:t>:</a:t>
            </a:r>
          </a:p>
          <a:p>
            <a:pPr lvl="1">
              <a:buFontTx/>
              <a:buChar char="-"/>
            </a:pPr>
            <a:r>
              <a:rPr lang="de-DE" sz="2000" dirty="0"/>
              <a:t>Max IK-</a:t>
            </a:r>
            <a:r>
              <a:rPr lang="de-DE" sz="2000" dirty="0" err="1"/>
              <a:t>positions</a:t>
            </a:r>
            <a:r>
              <a:rPr lang="de-DE" sz="2000" dirty="0"/>
              <a:t> </a:t>
            </a:r>
            <a:r>
              <a:rPr lang="de-DE" sz="2000" dirty="0" err="1"/>
              <a:t>as</a:t>
            </a:r>
            <a:r>
              <a:rPr lang="de-DE" sz="2000" dirty="0"/>
              <a:t> </a:t>
            </a:r>
            <a:r>
              <a:rPr lang="de-DE" sz="2000" dirty="0" err="1"/>
              <a:t>hyperparameter</a:t>
            </a:r>
            <a:r>
              <a:rPr lang="de-DE" sz="2000" dirty="0"/>
              <a:t>.</a:t>
            </a:r>
            <a:endParaRPr lang="de-DE" sz="1600" dirty="0"/>
          </a:p>
          <a:p>
            <a:pPr marL="0" indent="0">
              <a:buNone/>
            </a:pPr>
            <a:endParaRPr lang="de-DE" dirty="0"/>
          </a:p>
          <a:p>
            <a:pPr>
              <a:buFontTx/>
              <a:buChar char="-"/>
            </a:pPr>
            <a:r>
              <a:rPr lang="de-DE" sz="2400" dirty="0" err="1"/>
              <a:t>Reward</a:t>
            </a:r>
            <a:r>
              <a:rPr lang="de-DE" sz="2400" dirty="0"/>
              <a:t>: </a:t>
            </a:r>
            <a:r>
              <a:rPr lang="de-DE" sz="2400" dirty="0">
                <a:solidFill>
                  <a:srgbClr val="FF0000"/>
                </a:solidFill>
              </a:rPr>
              <a:t>After </a:t>
            </a:r>
            <a:r>
              <a:rPr lang="de-DE" sz="2400" dirty="0" err="1">
                <a:solidFill>
                  <a:srgbClr val="FF0000"/>
                </a:solidFill>
              </a:rPr>
              <a:t>reaching</a:t>
            </a:r>
            <a:r>
              <a:rPr lang="de-DE" sz="2400" dirty="0">
                <a:solidFill>
                  <a:srgbClr val="FF0000"/>
                </a:solidFill>
              </a:rPr>
              <a:t> </a:t>
            </a:r>
            <a:r>
              <a:rPr lang="de-DE" sz="2400" dirty="0" err="1">
                <a:solidFill>
                  <a:srgbClr val="FF0000"/>
                </a:solidFill>
              </a:rPr>
              <a:t>each</a:t>
            </a:r>
            <a:r>
              <a:rPr lang="de-DE" sz="2400" dirty="0">
                <a:solidFill>
                  <a:srgbClr val="FF0000"/>
                </a:solidFill>
              </a:rPr>
              <a:t> </a:t>
            </a:r>
            <a:r>
              <a:rPr lang="de-DE" sz="2400" dirty="0" err="1">
                <a:solidFill>
                  <a:srgbClr val="FF0000"/>
                </a:solidFill>
              </a:rPr>
              <a:t>targeted</a:t>
            </a:r>
            <a:r>
              <a:rPr lang="de-DE" sz="2400" dirty="0">
                <a:solidFill>
                  <a:srgbClr val="FF0000"/>
                </a:solidFill>
              </a:rPr>
              <a:t> </a:t>
            </a:r>
            <a:r>
              <a:rPr lang="de-DE" sz="2400" dirty="0" err="1">
                <a:solidFill>
                  <a:srgbClr val="FF0000"/>
                </a:solidFill>
              </a:rPr>
              <a:t>position</a:t>
            </a:r>
            <a:r>
              <a:rPr lang="de-DE" sz="2400" dirty="0">
                <a:solidFill>
                  <a:srgbClr val="FF0000"/>
                </a:solidFill>
              </a:rPr>
              <a:t>; </a:t>
            </a:r>
            <a:r>
              <a:rPr lang="de-DE" sz="2400" dirty="0" err="1">
                <a:solidFill>
                  <a:srgbClr val="FF0000"/>
                </a:solidFill>
              </a:rPr>
              <a:t>max</a:t>
            </a:r>
            <a:r>
              <a:rPr lang="de-DE" sz="2400" dirty="0">
                <a:solidFill>
                  <a:srgbClr val="FF0000"/>
                </a:solidFill>
              </a:rPr>
              <a:t> </a:t>
            </a:r>
            <a:r>
              <a:rPr lang="de-DE" sz="2400" dirty="0" err="1">
                <a:solidFill>
                  <a:srgbClr val="FF0000"/>
                </a:solidFill>
              </a:rPr>
              <a:t>number</a:t>
            </a:r>
            <a:r>
              <a:rPr lang="de-DE" sz="2400" dirty="0">
                <a:solidFill>
                  <a:srgbClr val="FF0000"/>
                </a:solidFill>
              </a:rPr>
              <a:t> </a:t>
            </a:r>
            <a:r>
              <a:rPr lang="de-DE" sz="2400" dirty="0" err="1">
                <a:solidFill>
                  <a:srgbClr val="FF0000"/>
                </a:solidFill>
              </a:rPr>
              <a:t>of</a:t>
            </a:r>
            <a:r>
              <a:rPr lang="de-DE" sz="2400" dirty="0">
                <a:solidFill>
                  <a:srgbClr val="FF0000"/>
                </a:solidFill>
              </a:rPr>
              <a:t> IK </a:t>
            </a:r>
            <a:r>
              <a:rPr lang="de-DE" sz="2400" dirty="0" err="1">
                <a:solidFill>
                  <a:srgbClr val="FF0000"/>
                </a:solidFill>
              </a:rPr>
              <a:t>points</a:t>
            </a:r>
            <a:r>
              <a:rPr lang="de-DE" sz="2400" dirty="0">
                <a:solidFill>
                  <a:srgbClr val="FF0000"/>
                </a:solidFill>
              </a:rPr>
              <a:t> </a:t>
            </a:r>
            <a:r>
              <a:rPr lang="de-DE" sz="2400" dirty="0" err="1">
                <a:solidFill>
                  <a:srgbClr val="FF0000"/>
                </a:solidFill>
              </a:rPr>
              <a:t>determiend</a:t>
            </a:r>
            <a:r>
              <a:rPr lang="de-DE" sz="2400" dirty="0">
                <a:solidFill>
                  <a:srgbClr val="FF0000"/>
                </a:solidFill>
              </a:rPr>
              <a:t> </a:t>
            </a:r>
            <a:r>
              <a:rPr lang="de-DE" sz="2400" dirty="0" err="1">
                <a:solidFill>
                  <a:srgbClr val="FF0000"/>
                </a:solidFill>
              </a:rPr>
              <a:t>by</a:t>
            </a:r>
            <a:r>
              <a:rPr lang="de-DE" sz="2400" dirty="0">
                <a:solidFill>
                  <a:srgbClr val="FF0000"/>
                </a:solidFill>
              </a:rPr>
              <a:t> </a:t>
            </a:r>
            <a:r>
              <a:rPr lang="de-DE" sz="2400" dirty="0" err="1">
                <a:solidFill>
                  <a:srgbClr val="FF0000"/>
                </a:solidFill>
              </a:rPr>
              <a:t>termination</a:t>
            </a:r>
            <a:r>
              <a:rPr lang="de-DE" sz="2400" dirty="0">
                <a:solidFill>
                  <a:srgbClr val="FF0000"/>
                </a:solidFill>
              </a:rPr>
              <a:t> </a:t>
            </a:r>
            <a:r>
              <a:rPr lang="de-DE" sz="2400" dirty="0" err="1">
                <a:solidFill>
                  <a:srgbClr val="FF0000"/>
                </a:solidFill>
              </a:rPr>
              <a:t>condition</a:t>
            </a:r>
            <a:endParaRPr lang="de-DE" sz="2400" dirty="0">
              <a:solidFill>
                <a:srgbClr val="FF0000"/>
              </a:solidFill>
            </a:endParaRPr>
          </a:p>
          <a:p>
            <a:pPr lvl="1">
              <a:buFontTx/>
              <a:buChar char="-"/>
            </a:pPr>
            <a:r>
              <a:rPr lang="de-DE" sz="2000" dirty="0" err="1"/>
              <a:t>Distance</a:t>
            </a:r>
            <a:r>
              <a:rPr lang="de-DE" sz="2000" dirty="0"/>
              <a:t> </a:t>
            </a:r>
            <a:r>
              <a:rPr lang="de-DE" sz="2000" dirty="0" err="1"/>
              <a:t>from</a:t>
            </a:r>
            <a:r>
              <a:rPr lang="de-DE" sz="2000" dirty="0"/>
              <a:t> EE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object</a:t>
            </a:r>
            <a:r>
              <a:rPr lang="de-DE" sz="2000" dirty="0"/>
              <a:t> (absolute)</a:t>
            </a:r>
          </a:p>
          <a:p>
            <a:pPr lvl="1">
              <a:buFontTx/>
              <a:buChar char="-"/>
            </a:pPr>
            <a:r>
              <a:rPr lang="de-DE" sz="2000" dirty="0" err="1"/>
              <a:t>Distance</a:t>
            </a:r>
            <a:r>
              <a:rPr lang="de-DE" sz="2000" dirty="0"/>
              <a:t> </a:t>
            </a:r>
            <a:r>
              <a:rPr lang="de-DE" sz="2000" dirty="0" err="1"/>
              <a:t>from</a:t>
            </a:r>
            <a:r>
              <a:rPr lang="de-DE" sz="2000" dirty="0"/>
              <a:t> EE in hold </a:t>
            </a:r>
            <a:r>
              <a:rPr lang="de-DE" sz="2000" dirty="0" err="1"/>
              <a:t>state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target</a:t>
            </a:r>
            <a:r>
              <a:rPr lang="de-DE" sz="2000" dirty="0"/>
              <a:t> </a:t>
            </a:r>
            <a:r>
              <a:rPr lang="de-DE" sz="2000" dirty="0" err="1"/>
              <a:t>position</a:t>
            </a:r>
            <a:endParaRPr lang="de-DE" sz="2000" dirty="0"/>
          </a:p>
          <a:p>
            <a:pPr lvl="1">
              <a:buFontTx/>
              <a:buChar char="-"/>
            </a:pPr>
            <a:r>
              <a:rPr lang="de-DE" sz="2000" dirty="0" err="1"/>
              <a:t>If</a:t>
            </a:r>
            <a:r>
              <a:rPr lang="de-DE" sz="2000" dirty="0"/>
              <a:t> </a:t>
            </a:r>
            <a:r>
              <a:rPr lang="de-DE" sz="2000" dirty="0" err="1"/>
              <a:t>collision</a:t>
            </a:r>
            <a:r>
              <a:rPr lang="de-DE" sz="2000" dirty="0"/>
              <a:t> </a:t>
            </a:r>
            <a:r>
              <a:rPr lang="de-DE" sz="2000" dirty="0" err="1"/>
              <a:t>occurs</a:t>
            </a:r>
            <a:r>
              <a:rPr lang="de-DE" sz="2000" dirty="0"/>
              <a:t>, </a:t>
            </a:r>
            <a:r>
              <a:rPr lang="de-DE" sz="2000" dirty="0" err="1"/>
              <a:t>then</a:t>
            </a:r>
            <a:r>
              <a:rPr lang="de-DE" sz="2000" dirty="0"/>
              <a:t> </a:t>
            </a:r>
            <a:r>
              <a:rPr lang="de-DE" sz="2000" dirty="0" err="1"/>
              <a:t>punishment</a:t>
            </a:r>
            <a:r>
              <a:rPr lang="de-DE" sz="2000" dirty="0"/>
              <a:t> and </a:t>
            </a:r>
            <a:r>
              <a:rPr lang="de-DE" sz="2000" dirty="0" err="1"/>
              <a:t>episode</a:t>
            </a:r>
            <a:r>
              <a:rPr lang="de-DE" sz="2000" dirty="0"/>
              <a:t> </a:t>
            </a:r>
            <a:r>
              <a:rPr lang="de-DE" sz="2000" dirty="0" err="1"/>
              <a:t>termination</a:t>
            </a:r>
            <a:endParaRPr lang="de-DE" sz="2000" dirty="0"/>
          </a:p>
          <a:p>
            <a:pPr>
              <a:buFontTx/>
              <a:buChar char="-"/>
            </a:pPr>
            <a:endParaRPr lang="de-DE" sz="2400" dirty="0"/>
          </a:p>
          <a:p>
            <a:pPr>
              <a:buFontTx/>
              <a:buChar char="-"/>
            </a:pPr>
            <a:r>
              <a:rPr lang="de-DE" sz="2400" dirty="0"/>
              <a:t>Observation-Space:</a:t>
            </a:r>
          </a:p>
          <a:p>
            <a:pPr marL="971550" lvl="1" indent="-514350">
              <a:buAutoNum type="romanLcParenR"/>
            </a:pPr>
            <a:r>
              <a:rPr lang="de-DE" sz="2000" dirty="0" err="1"/>
              <a:t>Object</a:t>
            </a:r>
            <a:r>
              <a:rPr lang="de-DE" sz="2000" dirty="0"/>
              <a:t> Pos; vec3</a:t>
            </a:r>
          </a:p>
          <a:p>
            <a:pPr marL="971550" lvl="1" indent="-514350">
              <a:buAutoNum type="romanLcParenR"/>
            </a:pPr>
            <a:r>
              <a:rPr lang="de-DE" sz="2000" dirty="0"/>
              <a:t>(Target Pos;)</a:t>
            </a:r>
          </a:p>
          <a:p>
            <a:pPr marL="457200" lvl="1" indent="0">
              <a:buNone/>
            </a:pPr>
            <a:r>
              <a:rPr lang="de-DE" sz="2000" dirty="0"/>
              <a:t>	  </a:t>
            </a:r>
            <a:r>
              <a:rPr lang="de-DE" sz="2000" dirty="0">
                <a:sym typeface="Wingdings" panose="05000000000000000000" pitchFamily="2" charset="2"/>
              </a:rPr>
              <a:t>Optional, </a:t>
            </a:r>
            <a:r>
              <a:rPr lang="de-DE" sz="2000" dirty="0" err="1">
                <a:sym typeface="Wingdings" panose="05000000000000000000" pitchFamily="2" charset="2"/>
              </a:rPr>
              <a:t>only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when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it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is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changing</a:t>
            </a:r>
            <a:r>
              <a:rPr lang="de-DE" sz="2000" dirty="0">
                <a:sym typeface="Wingdings" panose="05000000000000000000" pitchFamily="2" charset="2"/>
              </a:rPr>
              <a:t> in </a:t>
            </a:r>
            <a:r>
              <a:rPr lang="de-DE" sz="2000" dirty="0" err="1">
                <a:sym typeface="Wingdings" panose="05000000000000000000" pitchFamily="2" charset="2"/>
              </a:rPr>
              <a:t>the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episodes</a:t>
            </a:r>
            <a:endParaRPr lang="de-DE" sz="2000" dirty="0"/>
          </a:p>
          <a:p>
            <a:pPr marL="457200" lvl="1" indent="0">
              <a:buNone/>
            </a:pPr>
            <a:r>
              <a:rPr lang="de-DE" sz="2000" dirty="0"/>
              <a:t>iii)	</a:t>
            </a:r>
            <a:r>
              <a:rPr lang="de-DE" sz="2000" dirty="0" err="1"/>
              <a:t>Gripped</a:t>
            </a:r>
            <a:r>
              <a:rPr lang="de-DE" sz="2000" dirty="0"/>
              <a:t> </a:t>
            </a:r>
            <a:r>
              <a:rPr lang="de-DE" sz="2000" dirty="0" err="1"/>
              <a:t>state</a:t>
            </a:r>
            <a:r>
              <a:rPr lang="de-DE" sz="2000" dirty="0"/>
              <a:t>; Boolean</a:t>
            </a:r>
          </a:p>
          <a:p>
            <a:pPr marL="971550" lvl="1" indent="-514350">
              <a:buAutoNum type="romanLcParenR" startAt="4"/>
            </a:pPr>
            <a:r>
              <a:rPr lang="de-DE" sz="2000" dirty="0"/>
              <a:t>(</a:t>
            </a:r>
            <a:r>
              <a:rPr lang="de-DE" sz="2000" dirty="0" err="1"/>
              <a:t>Collision</a:t>
            </a:r>
            <a:r>
              <a:rPr lang="de-DE" sz="2000" dirty="0"/>
              <a:t> </a:t>
            </a:r>
            <a:r>
              <a:rPr lang="de-DE" sz="2000" dirty="0" err="1"/>
              <a:t>state</a:t>
            </a:r>
            <a:r>
              <a:rPr lang="de-DE" sz="2000" dirty="0"/>
              <a:t>; Boolean)</a:t>
            </a:r>
          </a:p>
          <a:p>
            <a:pPr marL="457200" lvl="1" indent="0">
              <a:buNone/>
            </a:pPr>
            <a:r>
              <a:rPr lang="de-DE" sz="2000" dirty="0"/>
              <a:t>	  </a:t>
            </a:r>
            <a:r>
              <a:rPr lang="de-DE" sz="2000" dirty="0">
                <a:sym typeface="Wingdings" panose="05000000000000000000" pitchFamily="2" charset="2"/>
              </a:rPr>
              <a:t> </a:t>
            </a:r>
            <a:r>
              <a:rPr lang="de-DE" sz="2000" dirty="0" err="1">
                <a:sym typeface="Wingdings" panose="05000000000000000000" pitchFamily="2" charset="2"/>
              </a:rPr>
              <a:t>Implicit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by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killing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epsiodes</a:t>
            </a:r>
            <a:r>
              <a:rPr lang="de-DE" sz="2000" dirty="0">
                <a:sym typeface="Wingdings" panose="05000000000000000000" pitchFamily="2" charset="2"/>
              </a:rPr>
              <a:t>, </a:t>
            </a:r>
            <a:r>
              <a:rPr lang="de-DE" sz="2000" dirty="0" err="1">
                <a:sym typeface="Wingdings" panose="05000000000000000000" pitchFamily="2" charset="2"/>
              </a:rPr>
              <a:t>where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collision</a:t>
            </a:r>
            <a:r>
              <a:rPr lang="de-DE" sz="2000" dirty="0">
                <a:sym typeface="Wingdings" panose="05000000000000000000" pitchFamily="2" charset="2"/>
              </a:rPr>
              <a:t> </a:t>
            </a:r>
            <a:r>
              <a:rPr lang="de-DE" sz="2000" dirty="0" err="1">
                <a:sym typeface="Wingdings" panose="05000000000000000000" pitchFamily="2" charset="2"/>
              </a:rPr>
              <a:t>occurs</a:t>
            </a:r>
            <a:endParaRPr lang="de-DE" sz="2000" dirty="0"/>
          </a:p>
          <a:p>
            <a:pPr marL="457200" lvl="1" indent="0">
              <a:buNone/>
            </a:pPr>
            <a:endParaRPr lang="de-DE" dirty="0"/>
          </a:p>
          <a:p>
            <a:pPr>
              <a:buFontTx/>
              <a:buChar char="-"/>
            </a:pPr>
            <a:r>
              <a:rPr lang="de-DE" sz="2400" dirty="0" err="1"/>
              <a:t>Gripping</a:t>
            </a:r>
            <a:endParaRPr lang="de-DE" sz="2400" dirty="0"/>
          </a:p>
          <a:p>
            <a:pPr lvl="1">
              <a:buFontTx/>
              <a:buChar char="-"/>
            </a:pPr>
            <a:r>
              <a:rPr lang="de-DE" sz="2000" dirty="0" err="1"/>
              <a:t>manual</a:t>
            </a:r>
            <a:endParaRPr lang="de-DE" sz="2000" dirty="0"/>
          </a:p>
          <a:p>
            <a:pPr>
              <a:buFontTx/>
              <a:buChar char="-"/>
            </a:pPr>
            <a:endParaRPr lang="de-DE" sz="2400" dirty="0"/>
          </a:p>
          <a:p>
            <a:pPr lvl="1">
              <a:buFontTx/>
              <a:buChar char="-"/>
            </a:pPr>
            <a:endParaRPr lang="de-DE" dirty="0"/>
          </a:p>
          <a:p>
            <a:pPr lvl="1"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8492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3EFB65-8E9E-4D33-A0C4-7CDC1B409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721"/>
          </a:xfrm>
        </p:spPr>
        <p:txBody>
          <a:bodyPr>
            <a:noAutofit/>
          </a:bodyPr>
          <a:lstStyle/>
          <a:p>
            <a:r>
              <a:rPr lang="de-DE" dirty="0"/>
              <a:t>Minimum Viable </a:t>
            </a:r>
            <a:r>
              <a:rPr lang="de-DE" dirty="0" err="1"/>
              <a:t>Product</a:t>
            </a:r>
            <a:r>
              <a:rPr lang="de-DE" dirty="0"/>
              <a:t> C2 – </a:t>
            </a:r>
            <a:r>
              <a:rPr lang="de-DE" dirty="0" err="1"/>
              <a:t>Left</a:t>
            </a:r>
            <a:r>
              <a:rPr lang="de-DE" dirty="0"/>
              <a:t> Outs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C1DD09-0114-4B88-93C8-19ED41930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7758"/>
            <a:ext cx="10515600" cy="514511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endParaRPr lang="de-DE" sz="2400" dirty="0"/>
          </a:p>
          <a:p>
            <a:pPr lvl="1">
              <a:buFontTx/>
              <a:buChar char="-"/>
            </a:pPr>
            <a:endParaRPr lang="de-DE" dirty="0"/>
          </a:p>
          <a:p>
            <a:pPr lvl="1">
              <a:buFontTx/>
              <a:buChar char="-"/>
            </a:pP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5D640AAF-3A6B-4037-8F47-EE049822AF43}"/>
              </a:ext>
            </a:extLst>
          </p:cNvPr>
          <p:cNvSpPr txBox="1">
            <a:spLocks/>
          </p:cNvSpPr>
          <p:nvPr/>
        </p:nvSpPr>
        <p:spPr>
          <a:xfrm>
            <a:off x="898321" y="1282045"/>
            <a:ext cx="10515600" cy="514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de-DE" sz="2400" dirty="0" err="1"/>
              <a:t>IK_points</a:t>
            </a:r>
            <a:r>
              <a:rPr lang="de-DE" sz="2400" dirty="0"/>
              <a:t>:</a:t>
            </a:r>
          </a:p>
          <a:p>
            <a:pPr lvl="1">
              <a:buFontTx/>
              <a:buChar char="-"/>
            </a:pPr>
            <a:r>
              <a:rPr lang="de-DE" sz="2000" dirty="0" err="1"/>
              <a:t>Should</a:t>
            </a:r>
            <a:r>
              <a:rPr lang="de-DE" sz="2000" dirty="0"/>
              <a:t> </a:t>
            </a:r>
            <a:r>
              <a:rPr lang="de-DE" sz="2000" dirty="0" err="1"/>
              <a:t>be</a:t>
            </a:r>
            <a:r>
              <a:rPr lang="de-DE" sz="2000" dirty="0"/>
              <a:t> variable</a:t>
            </a:r>
            <a:endParaRPr lang="de-DE" sz="1600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>
              <a:buFontTx/>
              <a:buChar char="-"/>
            </a:pPr>
            <a:r>
              <a:rPr lang="de-DE" sz="2400" dirty="0" err="1"/>
              <a:t>Reward</a:t>
            </a:r>
            <a:r>
              <a:rPr lang="de-DE" sz="2400" dirty="0"/>
              <a:t>:</a:t>
            </a:r>
          </a:p>
          <a:p>
            <a:pPr lvl="1">
              <a:buFontTx/>
              <a:buChar char="-"/>
            </a:pPr>
            <a:r>
              <a:rPr lang="de-DE" sz="2000" dirty="0"/>
              <a:t>Orientation: </a:t>
            </a:r>
            <a:r>
              <a:rPr lang="de-DE" sz="2000" dirty="0" err="1"/>
              <a:t>Improved</a:t>
            </a:r>
            <a:r>
              <a:rPr lang="de-DE" sz="2000" dirty="0"/>
              <a:t> </a:t>
            </a:r>
            <a:r>
              <a:rPr lang="de-DE" sz="2000" dirty="0" err="1"/>
              <a:t>version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PandaEnv</a:t>
            </a:r>
            <a:r>
              <a:rPr lang="de-DE" sz="2000" dirty="0"/>
              <a:t> </a:t>
            </a:r>
            <a:r>
              <a:rPr lang="de-DE" sz="2000" dirty="0" err="1"/>
              <a:t>orientationrewar</a:t>
            </a:r>
            <a:r>
              <a:rPr lang="de-DE" sz="2000" dirty="0"/>
              <a:t>, </a:t>
            </a:r>
            <a:r>
              <a:rPr lang="de-DE" sz="2000" dirty="0" err="1"/>
              <a:t>as</a:t>
            </a:r>
            <a:r>
              <a:rPr lang="de-DE" sz="2000" dirty="0"/>
              <a:t> </a:t>
            </a:r>
            <a:r>
              <a:rPr lang="de-DE" sz="2000" dirty="0" err="1"/>
              <a:t>old</a:t>
            </a:r>
            <a:r>
              <a:rPr lang="de-DE" sz="2000" dirty="0"/>
              <a:t> </a:t>
            </a:r>
            <a:r>
              <a:rPr lang="de-DE" sz="2000" dirty="0" err="1"/>
              <a:t>one</a:t>
            </a:r>
            <a:r>
              <a:rPr lang="de-DE" sz="2000" dirty="0"/>
              <a:t> </a:t>
            </a:r>
            <a:r>
              <a:rPr lang="de-DE" sz="2000" dirty="0" err="1"/>
              <a:t>behaves</a:t>
            </a:r>
            <a:r>
              <a:rPr lang="de-DE" sz="2000" dirty="0"/>
              <a:t> </a:t>
            </a:r>
            <a:r>
              <a:rPr lang="de-DE" sz="2000" dirty="0" err="1"/>
              <a:t>very</a:t>
            </a:r>
            <a:br>
              <a:rPr lang="de-DE" sz="2000" dirty="0"/>
            </a:br>
            <a:r>
              <a:rPr lang="de-DE" sz="2000" dirty="0"/>
              <a:t>		  </a:t>
            </a:r>
            <a:r>
              <a:rPr lang="de-DE" sz="2000" dirty="0" err="1"/>
              <a:t>unstable</a:t>
            </a:r>
            <a:r>
              <a:rPr lang="de-DE" sz="2000" dirty="0"/>
              <a:t> </a:t>
            </a:r>
            <a:r>
              <a:rPr lang="de-DE" sz="2000" dirty="0" err="1"/>
              <a:t>if</a:t>
            </a:r>
            <a:r>
              <a:rPr lang="de-DE" sz="2000" dirty="0"/>
              <a:t> </a:t>
            </a:r>
            <a:r>
              <a:rPr lang="de-DE" sz="2000" dirty="0" err="1"/>
              <a:t>distance</a:t>
            </a:r>
            <a:r>
              <a:rPr lang="de-DE" sz="2000" dirty="0"/>
              <a:t>  </a:t>
            </a:r>
            <a:r>
              <a:rPr lang="de-DE" sz="2000" dirty="0" err="1"/>
              <a:t>EE_pos</a:t>
            </a:r>
            <a:r>
              <a:rPr lang="de-DE" sz="2000" dirty="0"/>
              <a:t>-&gt;</a:t>
            </a:r>
            <a:r>
              <a:rPr lang="de-DE" sz="2000" dirty="0" err="1"/>
              <a:t>goal_pos</a:t>
            </a:r>
            <a:r>
              <a:rPr lang="de-DE" sz="2000" dirty="0"/>
              <a:t> &lt;&lt; 10</a:t>
            </a:r>
          </a:p>
          <a:p>
            <a:pPr marL="0" indent="0">
              <a:buNone/>
            </a:pPr>
            <a:endParaRPr lang="de-DE" sz="2400" dirty="0"/>
          </a:p>
          <a:p>
            <a:pPr>
              <a:buFontTx/>
              <a:buChar char="-"/>
            </a:pPr>
            <a:r>
              <a:rPr lang="de-DE" sz="2400" dirty="0"/>
              <a:t>Observation-Space:</a:t>
            </a:r>
          </a:p>
          <a:p>
            <a:pPr lvl="1">
              <a:buFontTx/>
              <a:buChar char="-"/>
            </a:pPr>
            <a:r>
              <a:rPr lang="de-DE" dirty="0"/>
              <a:t>Orientation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object</a:t>
            </a:r>
            <a:endParaRPr lang="de-DE" dirty="0"/>
          </a:p>
          <a:p>
            <a:pPr lvl="1">
              <a:buFontTx/>
              <a:buChar char="-"/>
            </a:pPr>
            <a:r>
              <a:rPr lang="de-DE" dirty="0"/>
              <a:t>Orientation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EE_pos</a:t>
            </a:r>
            <a:endParaRPr lang="de-DE" dirty="0"/>
          </a:p>
          <a:p>
            <a:pPr>
              <a:buFontTx/>
              <a:buChar char="-"/>
            </a:pPr>
            <a:r>
              <a:rPr lang="de-DE" sz="2400" dirty="0" err="1"/>
              <a:t>Gripping</a:t>
            </a:r>
            <a:endParaRPr lang="de-DE" sz="2400" dirty="0"/>
          </a:p>
          <a:p>
            <a:pPr lvl="1">
              <a:buFontTx/>
              <a:buChar char="-"/>
            </a:pPr>
            <a:r>
              <a:rPr lang="de-DE" sz="2000" dirty="0"/>
              <a:t>RL</a:t>
            </a:r>
          </a:p>
          <a:p>
            <a:pPr>
              <a:buFontTx/>
              <a:buChar char="-"/>
            </a:pPr>
            <a:endParaRPr lang="de-DE" sz="2400" dirty="0"/>
          </a:p>
          <a:p>
            <a:pPr lvl="1">
              <a:buFontTx/>
              <a:buChar char="-"/>
            </a:pPr>
            <a:endParaRPr lang="de-DE" dirty="0"/>
          </a:p>
          <a:p>
            <a:pPr lvl="1"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4933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3EFB65-8E9E-4D33-A0C4-7CDC1B409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721"/>
          </a:xfrm>
        </p:spPr>
        <p:txBody>
          <a:bodyPr>
            <a:noAutofit/>
          </a:bodyPr>
          <a:lstStyle/>
          <a:p>
            <a:r>
              <a:rPr lang="de-DE" dirty="0"/>
              <a:t>Minimum Viable </a:t>
            </a:r>
            <a:r>
              <a:rPr lang="de-DE" dirty="0" err="1"/>
              <a:t>Product</a:t>
            </a:r>
            <a:r>
              <a:rPr lang="de-DE" dirty="0"/>
              <a:t> C2 – </a:t>
            </a:r>
            <a:r>
              <a:rPr lang="de-DE" dirty="0" err="1"/>
              <a:t>Verification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5D640AAF-3A6B-4037-8F47-EE049822AF43}"/>
              </a:ext>
            </a:extLst>
          </p:cNvPr>
          <p:cNvSpPr txBox="1">
            <a:spLocks/>
          </p:cNvSpPr>
          <p:nvPr/>
        </p:nvSpPr>
        <p:spPr>
          <a:xfrm>
            <a:off x="838200" y="1231711"/>
            <a:ext cx="10515600" cy="514511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de-DE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IK_points</a:t>
            </a: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2100" dirty="0" err="1">
                <a:solidFill>
                  <a:prstClr val="black"/>
                </a:solidFill>
                <a:latin typeface="Calibri" panose="020F0502020204030204"/>
              </a:rPr>
              <a:t>Verified</a:t>
            </a:r>
            <a:r>
              <a:rPr lang="de-DE" sz="2100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</a:t>
            </a: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manual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sequnce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correct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lang="de-DE" sz="2100" dirty="0">
                <a:solidFill>
                  <a:prstClr val="black"/>
                </a:solidFill>
                <a:latin typeface="Calibri" panose="020F0502020204030204"/>
              </a:rPr>
              <a:t>Next </a:t>
            </a:r>
            <a:r>
              <a:rPr lang="de-DE" sz="2100" dirty="0" err="1">
                <a:solidFill>
                  <a:prstClr val="black"/>
                </a:solidFill>
                <a:latin typeface="Calibri" panose="020F0502020204030204"/>
              </a:rPr>
              <a:t>IK_point</a:t>
            </a:r>
            <a:r>
              <a:rPr lang="de-DE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100" dirty="0" err="1">
                <a:solidFill>
                  <a:prstClr val="black"/>
                </a:solidFill>
                <a:latin typeface="Calibri" panose="020F0502020204030204"/>
              </a:rPr>
              <a:t>is</a:t>
            </a:r>
            <a:r>
              <a:rPr lang="de-DE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100" dirty="0" err="1">
                <a:solidFill>
                  <a:prstClr val="black"/>
                </a:solidFill>
                <a:latin typeface="Calibri" panose="020F0502020204030204"/>
              </a:rPr>
              <a:t>targeted</a:t>
            </a:r>
            <a:r>
              <a:rPr lang="de-DE" sz="2100" dirty="0">
                <a:solidFill>
                  <a:prstClr val="black"/>
                </a:solidFill>
                <a:latin typeface="Calibri" panose="020F0502020204030204"/>
              </a:rPr>
              <a:t> after </a:t>
            </a:r>
            <a:r>
              <a:rPr lang="de-DE" sz="2100" dirty="0" err="1">
                <a:solidFill>
                  <a:prstClr val="black"/>
                </a:solidFill>
                <a:latin typeface="Calibri" panose="020F0502020204030204"/>
              </a:rPr>
              <a:t>getting</a:t>
            </a:r>
            <a:r>
              <a:rPr lang="de-DE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100" dirty="0" err="1">
                <a:solidFill>
                  <a:prstClr val="black"/>
                </a:solidFill>
                <a:latin typeface="Calibri" panose="020F0502020204030204"/>
              </a:rPr>
              <a:t>to</a:t>
            </a:r>
            <a:r>
              <a:rPr lang="de-DE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100" dirty="0" err="1">
                <a:solidFill>
                  <a:prstClr val="black"/>
                </a:solidFill>
                <a:latin typeface="Calibri" panose="020F0502020204030204"/>
              </a:rPr>
              <a:t>the</a:t>
            </a:r>
            <a:r>
              <a:rPr lang="de-DE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100" dirty="0" err="1">
                <a:solidFill>
                  <a:prstClr val="black"/>
                </a:solidFill>
                <a:latin typeface="Calibri" panose="020F0502020204030204"/>
              </a:rPr>
              <a:t>current</a:t>
            </a:r>
            <a:r>
              <a:rPr lang="de-DE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100" dirty="0" err="1">
                <a:solidFill>
                  <a:prstClr val="black"/>
                </a:solidFill>
                <a:latin typeface="Calibri" panose="020F0502020204030204"/>
              </a:rPr>
              <a:t>one</a:t>
            </a:r>
            <a:endParaRPr lang="de-DE" sz="2100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spcBef>
                <a:spcPts val="500"/>
              </a:spcBef>
              <a:buFontTx/>
              <a:buChar char="-"/>
            </a:pPr>
            <a:endParaRPr kumimoji="0" lang="de-DE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spcBef>
                <a:spcPts val="500"/>
              </a:spcBef>
              <a:buFontTx/>
              <a:buChar char="-"/>
            </a:pPr>
            <a:r>
              <a:rPr kumimoji="0" lang="de-DE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Termination:</a:t>
            </a:r>
          </a:p>
          <a:p>
            <a:pPr lvl="1">
              <a:buFontTx/>
              <a:buChar char="-"/>
            </a:pP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Verified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Terminated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after </a:t>
            </a: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collision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except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block</a:t>
            </a:r>
          </a:p>
          <a:p>
            <a:pPr lvl="1">
              <a:buFontTx/>
              <a:buChar char="-"/>
            </a:pP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Verified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Termination after </a:t>
            </a: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exceeding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max_IK_points</a:t>
            </a:r>
            <a:endParaRPr kumimoji="0" lang="de-DE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de-DE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Reward</a:t>
            </a: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lvl="1">
              <a:spcBef>
                <a:spcPts val="1000"/>
              </a:spcBef>
              <a:buFontTx/>
              <a:buChar char="-"/>
              <a:defRPr/>
            </a:pP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Verified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self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._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reward_distance</a:t>
            </a: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FontTx/>
              <a:buChar char="-"/>
              <a:defRPr/>
            </a:pP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Verified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self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._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reward_distance_hold</a:t>
            </a: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FontTx/>
              <a:buChar char="-"/>
              <a:defRPr/>
            </a:pP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Verified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gripped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 &gt; 10,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then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reward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triggereds</a:t>
            </a: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FontTx/>
              <a:buChar char="-"/>
              <a:defRPr/>
            </a:pP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Verified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Punishment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when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collision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with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env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occurs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.</a:t>
            </a: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Observation-Space:</a:t>
            </a:r>
          </a:p>
          <a:p>
            <a:pPr lvl="1">
              <a:spcBef>
                <a:spcPts val="1000"/>
              </a:spcBef>
              <a:buFontTx/>
              <a:buChar char="-"/>
              <a:defRPr/>
            </a:pPr>
            <a:r>
              <a:rPr kumimoji="0" lang="de-DE" sz="1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Verified</a:t>
            </a:r>
            <a:r>
              <a:rPr kumimoji="0" lang="de-DE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de-DE" sz="1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self</a:t>
            </a:r>
            <a:r>
              <a:rPr kumimoji="0" lang="de-DE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._</a:t>
            </a:r>
            <a:r>
              <a:rPr kumimoji="0" lang="de-DE" sz="1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goal_pos</a:t>
            </a:r>
            <a:endParaRPr kumimoji="0" lang="de-DE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FontTx/>
              <a:buChar char="-"/>
              <a:defRPr/>
            </a:pP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Verified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self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._</a:t>
            </a: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EE_pos</a:t>
            </a:r>
            <a:endParaRPr kumimoji="0" lang="de-DE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FontTx/>
              <a:buChar char="-"/>
              <a:defRPr/>
            </a:pP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Verified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self</a:t>
            </a:r>
            <a:r>
              <a:rPr kumimoji="0" lang="de-DE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._</a:t>
            </a:r>
            <a:r>
              <a:rPr kumimoji="0" lang="de-DE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contact_with_force</a:t>
            </a:r>
            <a:endParaRPr kumimoji="0" lang="de-DE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de-DE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Gripping</a:t>
            </a:r>
            <a:endParaRPr kumimoji="0" lang="de-D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Verified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:</a:t>
            </a: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spcBef>
                <a:spcPts val="500"/>
              </a:spcBef>
              <a:buFontTx/>
              <a:buChar char="-"/>
              <a:defRPr/>
            </a:pPr>
            <a:r>
              <a:rPr lang="de-DE" sz="2400" dirty="0">
                <a:solidFill>
                  <a:prstClr val="black"/>
                </a:solidFill>
                <a:latin typeface="Calibri" panose="020F0502020204030204"/>
              </a:rPr>
              <a:t>Agent:</a:t>
            </a:r>
          </a:p>
          <a:p>
            <a:pPr lvl="1">
              <a:buFontTx/>
              <a:buChar char="-"/>
              <a:defRPr/>
            </a:pP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Verified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: Action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space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. Limited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are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respected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although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the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interval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limits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are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overproportionally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present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. (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Because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of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scaling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of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activation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sz="2000" dirty="0" err="1">
                <a:solidFill>
                  <a:prstClr val="black"/>
                </a:solidFill>
                <a:latin typeface="Calibri" panose="020F0502020204030204"/>
              </a:rPr>
              <a:t>function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?)</a:t>
            </a: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de-D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de-D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de-D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9113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696843-13A4-4874-BE25-989AB2452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MVP – Concept 2 – Notes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674808-E9B8-414F-A2BF-D91DABF58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de-DE" dirty="0"/>
              <a:t>Orientation in </a:t>
            </a:r>
            <a:r>
              <a:rPr lang="de-DE" dirty="0" err="1"/>
              <a:t>reset</a:t>
            </a:r>
            <a:r>
              <a:rPr lang="de-DE" dirty="0"/>
              <a:t>()</a:t>
            </a:r>
          </a:p>
          <a:p>
            <a:pPr lvl="1">
              <a:buFontTx/>
              <a:buChar char="-"/>
            </a:pPr>
            <a:r>
              <a:rPr lang="de-DE" dirty="0"/>
              <a:t>EE </a:t>
            </a:r>
            <a:r>
              <a:rPr lang="de-DE" dirty="0" err="1"/>
              <a:t>orientation</a:t>
            </a:r>
            <a:r>
              <a:rPr lang="de-DE" dirty="0"/>
              <a:t> </a:t>
            </a:r>
            <a:r>
              <a:rPr lang="de-DE" dirty="0" err="1"/>
              <a:t>downwards</a:t>
            </a:r>
            <a:r>
              <a:rPr lang="de-DE" dirty="0"/>
              <a:t>: [0, -</a:t>
            </a:r>
            <a:r>
              <a:rPr lang="de-DE" dirty="0" err="1"/>
              <a:t>math.pi</a:t>
            </a:r>
            <a:r>
              <a:rPr lang="de-DE" dirty="0"/>
              <a:t>, 0]</a:t>
            </a:r>
          </a:p>
          <a:p>
            <a:pPr>
              <a:buFontTx/>
              <a:buChar char="-"/>
            </a:pPr>
            <a:endParaRPr lang="de-DE" dirty="0"/>
          </a:p>
          <a:p>
            <a:pPr>
              <a:buFontTx/>
              <a:buChar char="-"/>
            </a:pPr>
            <a:r>
              <a:rPr lang="de-DE" dirty="0" err="1"/>
              <a:t>Sometimes</a:t>
            </a:r>
            <a:r>
              <a:rPr lang="de-DE" dirty="0"/>
              <a:t>, IK-point </a:t>
            </a:r>
            <a:r>
              <a:rPr lang="de-DE" dirty="0" err="1"/>
              <a:t>is</a:t>
            </a:r>
            <a:r>
              <a:rPr lang="de-DE" dirty="0"/>
              <a:t> out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reach</a:t>
            </a:r>
            <a:r>
              <a:rPr lang="de-DE" dirty="0"/>
              <a:t>. Implement </a:t>
            </a:r>
            <a:r>
              <a:rPr lang="de-DE" dirty="0" err="1"/>
              <a:t>mechanism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terminate</a:t>
            </a:r>
            <a:r>
              <a:rPr lang="de-DE" dirty="0"/>
              <a:t>, </a:t>
            </a:r>
            <a:r>
              <a:rPr lang="de-DE" dirty="0" err="1"/>
              <a:t>when</a:t>
            </a:r>
            <a:r>
              <a:rPr lang="de-DE" dirty="0"/>
              <a:t> IK-point </a:t>
            </a:r>
            <a:r>
              <a:rPr lang="de-DE" dirty="0" err="1"/>
              <a:t>isnt</a:t>
            </a:r>
            <a:r>
              <a:rPr lang="de-DE" dirty="0"/>
              <a:t> </a:t>
            </a:r>
            <a:r>
              <a:rPr lang="de-DE" dirty="0" err="1"/>
              <a:t>reached</a:t>
            </a:r>
            <a:r>
              <a:rPr lang="de-DE" dirty="0"/>
              <a:t> </a:t>
            </a:r>
            <a:r>
              <a:rPr lang="de-DE" dirty="0" err="1"/>
              <a:t>within</a:t>
            </a:r>
            <a:r>
              <a:rPr lang="de-DE" dirty="0"/>
              <a:t> a </a:t>
            </a:r>
            <a:r>
              <a:rPr lang="de-DE" dirty="0" err="1"/>
              <a:t>certain</a:t>
            </a:r>
            <a:r>
              <a:rPr lang="de-DE" dirty="0"/>
              <a:t> </a:t>
            </a:r>
            <a:r>
              <a:rPr lang="de-DE" dirty="0" err="1"/>
              <a:t>amount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steps</a:t>
            </a:r>
            <a:endParaRPr lang="de-DE" dirty="0"/>
          </a:p>
          <a:p>
            <a:pPr>
              <a:buFontTx/>
              <a:buChar char="-"/>
            </a:pPr>
            <a:endParaRPr lang="de-DE" dirty="0"/>
          </a:p>
          <a:p>
            <a:pPr>
              <a:buFontTx/>
              <a:buChar char="-"/>
            </a:pPr>
            <a:r>
              <a:rPr lang="de-DE" dirty="0"/>
              <a:t>In </a:t>
            </a:r>
            <a:r>
              <a:rPr lang="de-DE" dirty="0" err="1"/>
              <a:t>Debug</a:t>
            </a:r>
            <a:r>
              <a:rPr lang="de-DE" dirty="0"/>
              <a:t> </a:t>
            </a:r>
            <a:r>
              <a:rPr lang="de-DE" dirty="0" err="1"/>
              <a:t>mode</a:t>
            </a:r>
            <a:r>
              <a:rPr lang="de-DE" dirty="0"/>
              <a:t>: </a:t>
            </a:r>
          </a:p>
          <a:p>
            <a:pPr lvl="1">
              <a:buFontTx/>
              <a:buChar char="-"/>
            </a:pPr>
            <a:r>
              <a:rPr lang="de-DE" dirty="0" err="1"/>
              <a:t>If-command</a:t>
            </a:r>
            <a:r>
              <a:rPr lang="de-DE" dirty="0"/>
              <a:t> </a:t>
            </a:r>
            <a:r>
              <a:rPr lang="de-DE" dirty="0" err="1"/>
              <a:t>brakes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-loop </a:t>
            </a:r>
            <a:r>
              <a:rPr lang="de-DE" dirty="0" err="1"/>
              <a:t>when</a:t>
            </a:r>
            <a:r>
              <a:rPr lang="de-DE" dirty="0"/>
              <a:t> _</a:t>
            </a:r>
            <a:r>
              <a:rPr lang="de-DE" dirty="0" err="1"/>
              <a:t>termmination</a:t>
            </a:r>
            <a:r>
              <a:rPr lang="de-DE" dirty="0"/>
              <a:t> </a:t>
            </a:r>
            <a:r>
              <a:rPr lang="de-DE" dirty="0" err="1"/>
              <a:t>return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true</a:t>
            </a:r>
            <a:r>
              <a:rPr lang="de-DE" dirty="0"/>
              <a:t>. True and </a:t>
            </a:r>
            <a:r>
              <a:rPr lang="de-DE" dirty="0" err="1"/>
              <a:t>run</a:t>
            </a:r>
            <a:r>
              <a:rPr lang="de-DE" dirty="0"/>
              <a:t> in same „</a:t>
            </a:r>
            <a:r>
              <a:rPr lang="de-DE" dirty="0" err="1"/>
              <a:t>episode</a:t>
            </a:r>
            <a:r>
              <a:rPr lang="de-DE" dirty="0"/>
              <a:t>“ </a:t>
            </a:r>
            <a:r>
              <a:rPr lang="de-DE" dirty="0" err="1"/>
              <a:t>only</a:t>
            </a:r>
            <a:r>
              <a:rPr lang="de-DE" dirty="0"/>
              <a:t> in </a:t>
            </a:r>
            <a:r>
              <a:rPr lang="de-DE" dirty="0" err="1"/>
              <a:t>debug</a:t>
            </a:r>
            <a:r>
              <a:rPr lang="de-DE" dirty="0"/>
              <a:t> </a:t>
            </a:r>
            <a:r>
              <a:rPr lang="de-DE" dirty="0" err="1"/>
              <a:t>mode</a:t>
            </a:r>
            <a:r>
              <a:rPr lang="de-DE" dirty="0"/>
              <a:t>. </a:t>
            </a:r>
            <a:r>
              <a:rPr lang="de-DE" dirty="0" err="1"/>
              <a:t>Wont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effects</a:t>
            </a:r>
            <a:r>
              <a:rPr lang="de-DE" dirty="0"/>
              <a:t> on main.py-run</a:t>
            </a:r>
          </a:p>
        </p:txBody>
      </p:sp>
    </p:spTree>
    <p:extLst>
      <p:ext uri="{BB962C8B-B14F-4D97-AF65-F5344CB8AC3E}">
        <p14:creationId xmlns:p14="http://schemas.microsoft.com/office/powerpoint/2010/main" val="3974529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696843-13A4-4874-BE25-989AB2452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MVP – Concept 2 – </a:t>
            </a:r>
            <a:r>
              <a:rPr lang="de-DE" dirty="0" err="1"/>
              <a:t>ToDo</a:t>
            </a:r>
            <a:r>
              <a:rPr lang="de-DE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674808-E9B8-414F-A2BF-D91DABF58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Tx/>
              <a:buChar char="-"/>
            </a:pPr>
            <a:r>
              <a:rPr lang="de-DE" dirty="0"/>
              <a:t>Prevent </a:t>
            </a:r>
            <a:r>
              <a:rPr lang="de-DE" dirty="0" err="1"/>
              <a:t>very</a:t>
            </a:r>
            <a:r>
              <a:rPr lang="de-DE" dirty="0"/>
              <a:t> high </a:t>
            </a:r>
            <a:r>
              <a:rPr lang="de-DE" dirty="0" err="1"/>
              <a:t>acceleration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EE, so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remains</a:t>
            </a:r>
            <a:r>
              <a:rPr lang="de-DE" dirty="0"/>
              <a:t> in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fingers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EE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moved</a:t>
            </a:r>
            <a:r>
              <a:rPr lang="de-DE" dirty="0"/>
              <a:t>.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de-DE" dirty="0">
                <a:sym typeface="Wingdings" panose="05000000000000000000" pitchFamily="2" charset="2"/>
              </a:rPr>
              <a:t>Task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Agent </a:t>
            </a:r>
            <a:r>
              <a:rPr lang="de-DE" dirty="0" err="1">
                <a:sym typeface="Wingdings" panose="05000000000000000000" pitchFamily="2" charset="2"/>
              </a:rPr>
              <a:t>by</a:t>
            </a:r>
            <a:r>
              <a:rPr lang="de-DE" dirty="0">
                <a:sym typeface="Wingdings" panose="05000000000000000000" pitchFamily="2" charset="2"/>
              </a:rPr>
              <a:t>  </a:t>
            </a:r>
            <a:r>
              <a:rPr lang="de-DE" dirty="0" err="1">
                <a:sym typeface="Wingdings" panose="05000000000000000000" pitchFamily="2" charset="2"/>
              </a:rPr>
              <a:t>providing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points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that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prevent</a:t>
            </a:r>
            <a:r>
              <a:rPr lang="de-DE" dirty="0">
                <a:sym typeface="Wingdings" panose="05000000000000000000" pitchFamily="2" charset="2"/>
              </a:rPr>
              <a:t> high </a:t>
            </a:r>
            <a:r>
              <a:rPr lang="de-DE" dirty="0" err="1">
                <a:sym typeface="Wingdings" panose="05000000000000000000" pitchFamily="2" charset="2"/>
              </a:rPr>
              <a:t>accelerations</a:t>
            </a:r>
            <a:r>
              <a:rPr lang="de-DE" dirty="0">
                <a:sym typeface="Wingdings" panose="05000000000000000000" pitchFamily="2" charset="2"/>
              </a:rPr>
              <a:t>?</a:t>
            </a:r>
          </a:p>
          <a:p>
            <a:pPr marL="457200" lvl="1" indent="0">
              <a:buNone/>
            </a:pPr>
            <a:endParaRPr lang="de-DE" dirty="0"/>
          </a:p>
          <a:p>
            <a:pPr>
              <a:buFontTx/>
              <a:buChar char="-"/>
            </a:pPr>
            <a:r>
              <a:rPr lang="de-DE" dirty="0"/>
              <a:t>Do not </a:t>
            </a:r>
            <a:r>
              <a:rPr lang="de-DE" dirty="0" err="1"/>
              <a:t>punish</a:t>
            </a:r>
            <a:r>
              <a:rPr lang="de-DE" dirty="0"/>
              <a:t> </a:t>
            </a:r>
            <a:r>
              <a:rPr lang="de-DE" dirty="0" err="1"/>
              <a:t>implicitly</a:t>
            </a:r>
            <a:r>
              <a:rPr lang="de-DE" dirty="0"/>
              <a:t>, but </a:t>
            </a:r>
            <a:r>
              <a:rPr lang="de-DE" dirty="0" err="1"/>
              <a:t>explicitly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contact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environment</a:t>
            </a:r>
            <a:r>
              <a:rPr lang="de-DE" dirty="0"/>
              <a:t>        </a:t>
            </a:r>
          </a:p>
          <a:p>
            <a:pPr marL="0" indent="0">
              <a:buNone/>
            </a:pPr>
            <a:endParaRPr lang="de-DE" dirty="0"/>
          </a:p>
          <a:p>
            <a:pPr>
              <a:buFontTx/>
              <a:buChar char="-"/>
            </a:pPr>
            <a:r>
              <a:rPr lang="de-DE" dirty="0" err="1"/>
              <a:t>Verify</a:t>
            </a:r>
            <a:r>
              <a:rPr lang="de-DE" dirty="0"/>
              <a:t> </a:t>
            </a:r>
            <a:r>
              <a:rPr lang="de-DE" dirty="0" err="1"/>
              <a:t>epsidoe</a:t>
            </a:r>
            <a:r>
              <a:rPr lang="de-DE" dirty="0"/>
              <a:t> </a:t>
            </a:r>
            <a:r>
              <a:rPr lang="de-DE" dirty="0" err="1"/>
              <a:t>termination</a:t>
            </a:r>
            <a:r>
              <a:rPr lang="de-DE" dirty="0"/>
              <a:t> and </a:t>
            </a:r>
            <a:r>
              <a:rPr lang="de-DE" dirty="0" err="1"/>
              <a:t>reward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PPO </a:t>
            </a:r>
            <a:r>
              <a:rPr lang="de-DE" dirty="0" err="1"/>
              <a:t>algorithm</a:t>
            </a:r>
            <a:r>
              <a:rPr lang="de-DE" dirty="0"/>
              <a:t>. Checkpoint </a:t>
            </a:r>
            <a:r>
              <a:rPr lang="de-DE" dirty="0" err="1"/>
              <a:t>frequency</a:t>
            </a:r>
            <a:r>
              <a:rPr lang="de-DE" dirty="0"/>
              <a:t> and </a:t>
            </a:r>
            <a:r>
              <a:rPr lang="de-DE" dirty="0" err="1"/>
              <a:t>verbosity</a:t>
            </a:r>
            <a:r>
              <a:rPr lang="de-DE" dirty="0"/>
              <a:t> </a:t>
            </a:r>
            <a:r>
              <a:rPr lang="de-DE" dirty="0" err="1"/>
              <a:t>seem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out 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phase</a:t>
            </a:r>
            <a:r>
              <a:rPr lang="de-DE" dirty="0"/>
              <a:t>.</a:t>
            </a:r>
          </a:p>
          <a:p>
            <a:pPr marL="0" indent="0">
              <a:buNone/>
            </a:pPr>
            <a:r>
              <a:rPr lang="de-DE" dirty="0"/>
              <a:t>    </a:t>
            </a:r>
            <a:r>
              <a:rPr lang="de-DE" dirty="0">
                <a:sym typeface="Wingdings" panose="05000000000000000000" pitchFamily="2" charset="2"/>
              </a:rPr>
              <a:t> </a:t>
            </a:r>
            <a:r>
              <a:rPr lang="de-DE" dirty="0" err="1">
                <a:sym typeface="Wingdings" panose="05000000000000000000" pitchFamily="2" charset="2"/>
              </a:rPr>
              <a:t>Seems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to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controlled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by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number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agent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actions</a:t>
            </a:r>
            <a:r>
              <a:rPr lang="de-DE" dirty="0">
                <a:sym typeface="Wingdings" panose="05000000000000000000" pitchFamily="2" charset="2"/>
              </a:rPr>
              <a:t>. In </a:t>
            </a:r>
            <a:r>
              <a:rPr lang="de-DE" dirty="0" err="1">
                <a:sym typeface="Wingdings" panose="05000000000000000000" pitchFamily="2" charset="2"/>
              </a:rPr>
              <a:t>my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case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br>
              <a:rPr lang="de-DE" dirty="0">
                <a:sym typeface="Wingdings" panose="05000000000000000000" pitchFamily="2" charset="2"/>
              </a:rPr>
            </a:br>
            <a:r>
              <a:rPr lang="de-DE" dirty="0">
                <a:sym typeface="Wingdings" panose="05000000000000000000" pitchFamily="2" charset="2"/>
              </a:rPr>
              <a:t>          </a:t>
            </a:r>
            <a:r>
              <a:rPr lang="de-DE" dirty="0" err="1">
                <a:sym typeface="Wingdings" panose="05000000000000000000" pitchFamily="2" charset="2"/>
              </a:rPr>
              <a:t>agent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doesn‘t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intervene</a:t>
            </a:r>
            <a:r>
              <a:rPr lang="de-DE" dirty="0">
                <a:sym typeface="Wingdings" panose="05000000000000000000" pitchFamily="2" charset="2"/>
              </a:rPr>
              <a:t> so </a:t>
            </a:r>
            <a:r>
              <a:rPr lang="de-DE" dirty="0" err="1">
                <a:sym typeface="Wingdings" panose="05000000000000000000" pitchFamily="2" charset="2"/>
              </a:rPr>
              <a:t>much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as</a:t>
            </a:r>
            <a:r>
              <a:rPr lang="de-DE" dirty="0">
                <a:sym typeface="Wingdings" panose="05000000000000000000" pitchFamily="2" charset="2"/>
              </a:rPr>
              <a:t> in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previous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one</a:t>
            </a:r>
            <a:r>
              <a:rPr lang="de-DE">
                <a:sym typeface="Wingdings" panose="05000000000000000000" pitchFamily="2" charset="2"/>
              </a:rPr>
              <a:t>.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111A4CB-C699-4CB7-94C8-71FCFD759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393" y="4001294"/>
            <a:ext cx="457199" cy="45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92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696843-13A4-4874-BE25-989AB2452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MVP – Concept 2 – Debugging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674808-E9B8-414F-A2BF-D91DABF58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de-DE" dirty="0"/>
              <a:t>Problem: The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PPO </a:t>
            </a:r>
            <a:r>
              <a:rPr lang="de-DE" dirty="0" err="1"/>
              <a:t>agent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limit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action-range (</a:t>
            </a:r>
            <a:r>
              <a:rPr lang="de-DE" dirty="0" err="1"/>
              <a:t>either</a:t>
            </a:r>
            <a:r>
              <a:rPr lang="de-DE" dirty="0"/>
              <a:t> max. </a:t>
            </a:r>
            <a:r>
              <a:rPr lang="de-DE" dirty="0" err="1"/>
              <a:t>or</a:t>
            </a:r>
            <a:r>
              <a:rPr lang="de-DE" dirty="0"/>
              <a:t> min). The </a:t>
            </a:r>
            <a:r>
              <a:rPr lang="de-DE" dirty="0" err="1"/>
              <a:t>output</a:t>
            </a:r>
            <a:endParaRPr lang="de-DE" dirty="0"/>
          </a:p>
          <a:p>
            <a:pPr lvl="1">
              <a:buFontTx/>
              <a:buChar char="-"/>
            </a:pPr>
            <a:r>
              <a:rPr lang="de-DE" dirty="0"/>
              <a:t>Possible Solutions:</a:t>
            </a:r>
          </a:p>
          <a:p>
            <a:pPr lvl="2">
              <a:buFontTx/>
              <a:buChar char="-"/>
            </a:pPr>
            <a:r>
              <a:rPr lang="de-DE" dirty="0"/>
              <a:t>The </a:t>
            </a:r>
            <a:r>
              <a:rPr lang="de-DE" dirty="0" err="1"/>
              <a:t>way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action-</a:t>
            </a:r>
            <a:r>
              <a:rPr lang="de-DE" dirty="0" err="1"/>
              <a:t>bound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defined</a:t>
            </a:r>
            <a:r>
              <a:rPr lang="de-DE" dirty="0"/>
              <a:t> in </a:t>
            </a:r>
            <a:r>
              <a:rPr lang="de-DE" dirty="0" err="1"/>
              <a:t>PandaRobotEnv</a:t>
            </a:r>
            <a:r>
              <a:rPr lang="de-DE" dirty="0"/>
              <a:t>_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wrong</a:t>
            </a:r>
            <a:r>
              <a:rPr lang="de-DE" dirty="0"/>
              <a:t> (</a:t>
            </a:r>
            <a:r>
              <a:rPr lang="de-DE" dirty="0" err="1"/>
              <a:t>Dynamically</a:t>
            </a:r>
            <a:r>
              <a:rPr lang="de-DE" dirty="0"/>
              <a:t> </a:t>
            </a:r>
            <a:r>
              <a:rPr lang="de-DE" dirty="0" err="1"/>
              <a:t>cant</a:t>
            </a:r>
            <a:br>
              <a:rPr lang="de-DE" dirty="0"/>
            </a:b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changed</a:t>
            </a:r>
            <a:r>
              <a:rPr lang="de-DE" dirty="0"/>
              <a:t>: Restore </a:t>
            </a:r>
            <a:r>
              <a:rPr lang="de-DE" dirty="0" err="1"/>
              <a:t>old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[-1, 1]</a:t>
            </a:r>
          </a:p>
        </p:txBody>
      </p:sp>
    </p:spTree>
    <p:extLst>
      <p:ext uri="{BB962C8B-B14F-4D97-AF65-F5344CB8AC3E}">
        <p14:creationId xmlns:p14="http://schemas.microsoft.com/office/powerpoint/2010/main" val="277015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B55891-AA35-4FD0-847C-B4BD8AFA0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235"/>
            <a:ext cx="10515600" cy="767389"/>
          </a:xfrm>
        </p:spPr>
        <p:txBody>
          <a:bodyPr/>
          <a:lstStyle/>
          <a:p>
            <a:r>
              <a:rPr lang="de-DE" dirty="0" err="1"/>
              <a:t>Full</a:t>
            </a:r>
            <a:r>
              <a:rPr lang="de-DE" dirty="0"/>
              <a:t> </a:t>
            </a:r>
            <a:r>
              <a:rPr lang="de-DE" dirty="0" err="1"/>
              <a:t>Product</a:t>
            </a:r>
            <a:r>
              <a:rPr lang="de-DE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4DD553-3406-41E9-AA94-143904E44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6947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958</Words>
  <Application>Microsoft Office PowerPoint</Application>
  <PresentationFormat>Breitbild</PresentationFormat>
  <Paragraphs>141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</vt:lpstr>
      <vt:lpstr>Current Jacobian Solution</vt:lpstr>
      <vt:lpstr>PowerPoint-Präsentation</vt:lpstr>
      <vt:lpstr>Switch Mechanism</vt:lpstr>
      <vt:lpstr>Reward Computation for Orientation</vt:lpstr>
      <vt:lpstr>PowerPoint-Präsentation</vt:lpstr>
      <vt:lpstr>Minimum Viable Procut (13.08.2021) – Concept 2</vt:lpstr>
      <vt:lpstr>Minimum Viable Product C2 – Left Outs</vt:lpstr>
      <vt:lpstr>Minimum Viable Product C2 – Verification</vt:lpstr>
      <vt:lpstr>MVP – Concept 2 – Notes </vt:lpstr>
      <vt:lpstr>MVP – Concept 2 – ToDo </vt:lpstr>
      <vt:lpstr>MVP – Concept 2 – Debugging </vt:lpstr>
      <vt:lpstr>Full Product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Zardasht Aziz</dc:creator>
  <cp:lastModifiedBy>Zardasht Aziz</cp:lastModifiedBy>
  <cp:revision>87</cp:revision>
  <dcterms:created xsi:type="dcterms:W3CDTF">2021-01-12T18:36:28Z</dcterms:created>
  <dcterms:modified xsi:type="dcterms:W3CDTF">2021-01-25T16:41:37Z</dcterms:modified>
</cp:coreProperties>
</file>